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701" r:id="rId2"/>
  </p:sldMasterIdLst>
  <p:notesMasterIdLst>
    <p:notesMasterId r:id="rId17"/>
  </p:notesMasterIdLst>
  <p:sldIdLst>
    <p:sldId id="274" r:id="rId3"/>
    <p:sldId id="269" r:id="rId4"/>
    <p:sldId id="259" r:id="rId5"/>
    <p:sldId id="270" r:id="rId6"/>
    <p:sldId id="264" r:id="rId7"/>
    <p:sldId id="263" r:id="rId8"/>
    <p:sldId id="272" r:id="rId9"/>
    <p:sldId id="265" r:id="rId10"/>
    <p:sldId id="271" r:id="rId11"/>
    <p:sldId id="266" r:id="rId12"/>
    <p:sldId id="262" r:id="rId13"/>
    <p:sldId id="267" r:id="rId14"/>
    <p:sldId id="258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6819C-4DD8-453D-8633-43399ECA693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B91CB-7CDA-4B56-B05E-C8213FA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5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7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2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45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5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9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0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6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6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305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87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4793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75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8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8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FF7F-74E8-431B-9E02-C769FF298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FEDEB-661D-4950-813D-0CBC6E6EE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256E-9175-4EAF-8F13-FAAD2258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F1EA3-36E7-46D1-8434-4073F1A3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818EE-7885-4BAA-B50C-29A82EE7C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44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04C3-2FBD-4F9C-AFF0-7344CD89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4770-BBB2-4653-9814-8C30FA8D5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C10CF-404A-4D70-811B-D6E36C8B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4256-2667-487F-93A8-F16090FE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3639-CB8E-4BE0-B45D-283B4CF5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89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4C63-DF08-4580-B5FC-278AF30D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B8CD5-0203-4357-8511-82D3DF726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3E644-10AC-4A01-9F78-BF284087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19BB2-DD12-4B4B-AEE4-71827CE8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1D548-1DB6-48C3-A5F7-8D6F6F687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565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C69B-F978-4EF3-A31B-E71CE619C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49CCA-0E16-4E95-B491-6B9809AA9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0571B-FEC8-4C4C-BDC1-377EAF421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819F4-AC50-4F59-A443-AFCE41EF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D46A5-3944-41BE-88FF-1226E149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03592-FDF8-496C-92CE-60865B95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84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F80F-68D0-49C0-AA23-C7AC77F5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4F367-5885-4284-BC0C-277F0B889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1FEC7-A1D0-4C4D-814B-F4C6B0723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7A5225-970D-4A63-895F-03E5EB7A6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7CA81-AC61-427A-BA45-FC87941EE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8B086-35D2-406A-BC37-D3B06BBE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0C4CA-BCF7-4114-B04F-D4290237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B65479-A4F1-4321-8DC6-5F8074B4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756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4203-DF93-4B3A-8A40-278BCACC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DD991-D5F5-4DE1-BC41-82893BBE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B4B3D-0083-429B-ACB5-17A071CC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67C36-1A49-450B-90D1-594F20146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802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A43A1-DD8C-45C7-BFF7-0E0831F0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B0A9B-4594-4383-9F7F-6411E153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D56A0-4351-461B-B99C-FB9DE9D3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984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E91C-A850-44FF-A330-7765B89F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F8BF7-F80C-435C-B5E9-95F94EDCA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E23DE-43EB-48E0-A161-844DD3C7A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520A-0348-45E2-A2C6-A022527E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FE9ED-2B13-437A-96CE-04A942EB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DBCAE-ACBE-4379-AA33-2E8020C6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323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F818-74C6-409E-8C07-950A5B3D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CC56B1-23D0-40EA-B988-261C27CEA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CADC0-69AE-45DD-ADC7-648A020C6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55972-5B90-4235-8DD7-74FBE6C14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F1D10-3118-4E0E-8682-18C380C57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54035-D702-4C36-912F-6524B854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876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EF3E-96D7-4391-B051-3CAF3CC3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695BD-B6D5-43E2-895A-AB714DA3F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60741-53F5-47D8-AA0C-9EB1BF4D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47F74-226B-451C-90B2-0BA382CC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2E525-7E06-4459-8B00-F6D6F525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93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AC158-F68C-4301-B81B-4DD64FAE7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8DD4B-1BA7-4831-93FE-18C7460B0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CF8E3-4FD5-44C6-82D1-81B87CA9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1003-64F4-44A0-9B43-F2697903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E6CC-67FE-41A6-AE79-3A31C141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52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2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1441D-7656-44F7-9DB8-E40BB0E57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3512B-8147-42EF-B1B6-FF44973C4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CDF73-7A66-4BC4-BEEF-BE5785B1E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E22BE-F0CE-481A-B582-0FB02A333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1D93C-177B-4C37-9DDA-90C0096BE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5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D0D9-63C9-40AD-8451-2D857D30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365" y="1912882"/>
            <a:ext cx="5749160" cy="4288221"/>
          </a:xfrm>
        </p:spPr>
        <p:txBody>
          <a:bodyPr>
            <a:normAutofit/>
          </a:bodyPr>
          <a:lstStyle/>
          <a:p>
            <a:r>
              <a:rPr lang="en-US" sz="3600" dirty="0"/>
              <a:t>Introduction to RAG (Retrieval-Augmented Generation)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4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1246-12CE-429F-8D32-C9DE54677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75" y="609600"/>
            <a:ext cx="6347713" cy="1320800"/>
          </a:xfrm>
        </p:spPr>
        <p:txBody>
          <a:bodyPr/>
          <a:lstStyle/>
          <a:p>
            <a:r>
              <a:rPr lang="en-US" sz="3600" dirty="0"/>
              <a:t>What is RAG?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5B8A-64E2-48D3-8409-E33A3308C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475" y="2160590"/>
            <a:ext cx="6347714" cy="3880773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is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combines information retrieval with text generation.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generator (LLM)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then creates answers using both the query and retrieved documents.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produce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accurate and fact-based responses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fetch relevant documents from a knowledge base.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hallucinations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 in standalone LLMs.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models to stay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up-to-date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retraining.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Q&amp;A systems, chatbots, research assistants, and enterprise 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505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39" y="365126"/>
            <a:ext cx="8775997" cy="1325563"/>
          </a:xfrm>
          <a:solidFill>
            <a:schemeClr val="accent1">
              <a:lumMod val="40000"/>
              <a:lumOff val="60000"/>
              <a:alpha val="77000"/>
            </a:schemeClr>
          </a:solidFill>
        </p:spPr>
        <p:txBody>
          <a:bodyPr/>
          <a:lstStyle/>
          <a:p>
            <a:r>
              <a:rPr lang="en-US" dirty="0"/>
              <a:t>		       </a:t>
            </a:r>
            <a:r>
              <a:rPr sz="3600" b="1" dirty="0"/>
              <a:t>How RAG Works</a:t>
            </a:r>
            <a:r>
              <a:rPr lang="en-US" sz="3600" b="1" dirty="0"/>
              <a:t> ?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739" y="1912883"/>
            <a:ext cx="8775998" cy="440285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dirty="0"/>
              <a:t> User asks a question.</a:t>
            </a:r>
          </a:p>
          <a:p>
            <a:r>
              <a:rPr dirty="0"/>
              <a:t> Retriever fetches relevant documents from a knowledge base.</a:t>
            </a:r>
          </a:p>
          <a:p>
            <a:r>
              <a:rPr dirty="0"/>
              <a:t> Generator (LLM) combines user query and retrieved docs.</a:t>
            </a:r>
          </a:p>
          <a:p>
            <a:r>
              <a:rPr lang="en-US" dirty="0"/>
              <a:t> </a:t>
            </a:r>
            <a:r>
              <a:rPr dirty="0"/>
              <a:t>Produces a grounded and context-aware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038" y="4001294"/>
            <a:ext cx="1298498" cy="815255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FFFFFF"/>
                </a:solidFill>
              </a:rPr>
              <a:t>1. User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616936" y="3987071"/>
            <a:ext cx="18288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FFFFFF"/>
                </a:solidFill>
              </a:rPr>
              <a:t>2. Retriever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0136" y="4001294"/>
            <a:ext cx="120015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FFFFFF"/>
                </a:solidFill>
              </a:rPr>
              <a:t>3. Generator (LLM)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88936" y="3978893"/>
            <a:ext cx="18288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FFFFFF"/>
                </a:solidFill>
              </a:rPr>
              <a:t>4. Response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02536" y="4180321"/>
            <a:ext cx="914400" cy="4572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4445736" y="4180321"/>
            <a:ext cx="914400" cy="4572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6560286" y="4207493"/>
            <a:ext cx="691119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B783-ABBE-4B3E-AF13-A48A5DF8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1012"/>
          </a:xfrm>
        </p:spPr>
        <p:txBody>
          <a:bodyPr/>
          <a:lstStyle/>
          <a:p>
            <a:r>
              <a:rPr lang="en-US" sz="3200" b="1" dirty="0"/>
              <a:t>		  </a:t>
            </a:r>
            <a:r>
              <a:rPr lang="en-US" sz="3600" b="1" dirty="0"/>
              <a:t>Components of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386BD-33BA-4D42-8B0C-DF9FFC73C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 text into vector form so similarity search is </a:t>
            </a:r>
            <a:r>
              <a:rPr lang="en-US" altLang="en-US" sz="2400" dirty="0">
                <a:latin typeface="Arial" panose="020B0604020202020204" pitchFamily="34" charset="0"/>
              </a:rPr>
              <a:t>possible (e.g.,</a:t>
            </a:r>
            <a:r>
              <a:rPr lang="en-US" sz="2400" dirty="0" err="1">
                <a:latin typeface="Arial" panose="020B0604020202020204" pitchFamily="34" charset="0"/>
              </a:rPr>
              <a:t>OpenAI</a:t>
            </a:r>
            <a:r>
              <a:rPr lang="en-US" sz="2400" dirty="0">
                <a:latin typeface="Arial" panose="020B0604020202020204" pitchFamily="34" charset="0"/>
              </a:rPr>
              <a:t> Embeddings , </a:t>
            </a:r>
            <a:r>
              <a:rPr lang="en-US" sz="2400" dirty="0" err="1">
                <a:latin typeface="Arial" panose="020B0604020202020204" pitchFamily="34" charset="0"/>
              </a:rPr>
              <a:t>LangChain</a:t>
            </a:r>
            <a:r>
              <a:rPr lang="en-US" sz="2400" dirty="0">
                <a:latin typeface="Arial" panose="020B0604020202020204" pitchFamily="34" charset="0"/>
              </a:rPr>
              <a:t> Embedding Wrappers, Hugging Face / Sentence Transformers)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Retriever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Finds the most relevant information from the knowledge base (e.g., FAISS, Pinecone,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Weaviate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Generator </a:t>
            </a: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language model that creates responses using both the query and retrieved info (e.g., GPT,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Falcon)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source of truth containing documents, PDFs, databases, or websites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</a:rPr>
              <a:t>A document is a source of information the model can retrieve to respond accurately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07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DEAE-EF4D-4F2B-9558-79F39EEE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868" y="365126"/>
            <a:ext cx="6108481" cy="3916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Documents in RAG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2A17CB-E1B4-4934-A296-7665F49A8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7862" y="1249991"/>
            <a:ext cx="83452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>
                <a:latin typeface="Arial" panose="020B0604020202020204" pitchFamily="34" charset="0"/>
              </a:rPr>
              <a:t>A document is a source of information the model can retrieve to respond accurately </a:t>
            </a:r>
            <a:r>
              <a:rPr lang="en-US" altLang="en-US" sz="1800" b="1" dirty="0">
                <a:latin typeface="Arial" panose="020B0604020202020204" pitchFamily="34" charset="0"/>
              </a:rPr>
              <a:t>Examples: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PDFs, Word files, text files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pages or knowledge base articles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entries or FAQs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in RAG: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into smaller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easier retrieval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find relevant information quickly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9C9976-D636-48DA-AF40-4C1907B86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49" y="3828755"/>
            <a:ext cx="5519901" cy="2664119"/>
          </a:xfrm>
          <a:prstGeom prst="rect">
            <a:avLst/>
          </a:prstGeom>
          <a:effectLst>
            <a:glow rad="127000">
              <a:schemeClr val="accent1">
                <a:alpha val="67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2677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5F8B-C8DA-4794-8720-2078F021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717" y="176782"/>
            <a:ext cx="5246632" cy="579964"/>
          </a:xfrm>
        </p:spPr>
        <p:txBody>
          <a:bodyPr>
            <a:normAutofit/>
          </a:bodyPr>
          <a:lstStyle/>
          <a:p>
            <a:r>
              <a:rPr lang="en-US" b="1" dirty="0"/>
              <a:t>Embeddings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932761-2895-4A0B-9A57-E75300A396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7559" y="1035479"/>
            <a:ext cx="83977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 words, sentences, or entire documents as dense vectors in a high-dimensional space.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Arial" panose="020B0604020202020204" pitchFamily="34" charset="0"/>
              </a:rPr>
              <a:t>Embeddings are numeric representations of words, sentences, or documents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purpose of embeddings is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the semantic meaning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text.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 or phrases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meanings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located closer to each other in this vector space. e.g.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“King” and “Queen” are close in embedding space because both relate to royalty.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embedding is a vector (e.g., `[0.12, -0.45, 0.33, ...]`), where each number (dimension) captures some aspect of the semantic meaning of the text.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0E9F21-09A2-421B-A0AA-3D76DC17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57" y="3773214"/>
            <a:ext cx="6554196" cy="290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4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47A94B-93A4-42F9-82B1-A3CD80A09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442" y="1389773"/>
            <a:ext cx="7886700" cy="35834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B76DFD-20D8-4BE3-AD86-069448ED2C88}"/>
              </a:ext>
            </a:extLst>
          </p:cNvPr>
          <p:cNvSpPr txBox="1"/>
          <p:nvPr/>
        </p:nvSpPr>
        <p:spPr>
          <a:xfrm>
            <a:off x="746234" y="5171090"/>
            <a:ext cx="7769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C1468"/>
                </a:solidFill>
                <a:latin typeface="Inter"/>
              </a:rPr>
              <a:t>V</a:t>
            </a:r>
            <a:r>
              <a:rPr lang="en-US" b="0" i="0" dirty="0">
                <a:solidFill>
                  <a:srgbClr val="1C1468"/>
                </a:solidFill>
                <a:effectLst/>
                <a:latin typeface="Inter"/>
              </a:rPr>
              <a:t>ector embeddings are an array of numbers, which can be used as coordinates in a high-dimensional space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646DF-3BFF-440E-A981-2F43E40B5D56}"/>
              </a:ext>
            </a:extLst>
          </p:cNvPr>
          <p:cNvSpPr txBox="1"/>
          <p:nvPr/>
        </p:nvSpPr>
        <p:spPr>
          <a:xfrm>
            <a:off x="2848303" y="536028"/>
            <a:ext cx="4918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What are Vectors?</a:t>
            </a:r>
          </a:p>
        </p:txBody>
      </p:sp>
    </p:spTree>
    <p:extLst>
      <p:ext uri="{BB962C8B-B14F-4D97-AF65-F5344CB8AC3E}">
        <p14:creationId xmlns:p14="http://schemas.microsoft.com/office/powerpoint/2010/main" val="3972627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B015-2392-4F66-AE29-276270ED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06929"/>
          </a:xfrm>
        </p:spPr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Retrievals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DE233A-F52D-467B-ABA9-B1025A0B87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3475" y="1558964"/>
            <a:ext cx="815602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process of finding relevant information from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the model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external knowledge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beyond its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measure similarity between a query and document chunks.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relevant chunks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guide the answer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answers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accurate, up-to-date, and context-aware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DF8AB-921E-480F-B56F-ECE30AEF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03" y="3544711"/>
            <a:ext cx="5070420" cy="291866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glow rad="241300">
              <a:schemeClr val="accent1">
                <a:alpha val="38000"/>
              </a:schemeClr>
            </a:glow>
            <a:outerShdw blurRad="50800" dir="5400000" algn="ctr" rotWithShape="0">
              <a:srgbClr val="000000">
                <a:alpha val="43137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320727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379C-A25A-4F45-A3CB-C1C39409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10" y="365126"/>
            <a:ext cx="7590440" cy="82254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b="1" dirty="0"/>
              <a:t>	   Cosine Similarity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1C9E8-0BA6-4C6B-8A63-AF8CBCDC8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910" y="1555531"/>
            <a:ext cx="7590440" cy="4621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Cosine Similarity:</a:t>
            </a:r>
          </a:p>
          <a:p>
            <a:r>
              <a:rPr lang="en-US" b="1" dirty="0"/>
              <a:t>Purpose:</a:t>
            </a:r>
            <a:r>
              <a:rPr lang="en-US" dirty="0"/>
              <a:t> Measure how similar two text vectors 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calculates the </a:t>
            </a:r>
            <a:r>
              <a:rPr lang="en-US" b="1" dirty="0"/>
              <a:t>angle</a:t>
            </a:r>
            <a:r>
              <a:rPr lang="en-US" dirty="0"/>
              <a:t> between two vectors.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angle is </a:t>
            </a:r>
            <a:r>
              <a:rPr lang="en-US" b="1" dirty="0"/>
              <a:t>small → high similarity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 ranges from </a:t>
            </a:r>
            <a:r>
              <a:rPr lang="en-US" b="1" dirty="0"/>
              <a:t>–1 to +1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+1</a:t>
            </a:r>
            <a:r>
              <a:rPr lang="en-US" dirty="0"/>
              <a:t> → exactly similar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0</a:t>
            </a:r>
            <a:r>
              <a:rPr lang="en-US" dirty="0"/>
              <a:t> → no similarity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–1</a:t>
            </a:r>
            <a:r>
              <a:rPr lang="en-US" dirty="0"/>
              <a:t> → completely opposite</a:t>
            </a:r>
          </a:p>
          <a:p>
            <a:r>
              <a:rPr lang="en-US" b="1" dirty="0"/>
              <a:t>In RAG </a:t>
            </a:r>
            <a:r>
              <a:rPr lang="en-US" dirty="0"/>
              <a:t>it used to find which document embeddings are </a:t>
            </a:r>
            <a:r>
              <a:rPr lang="en-US" b="1" dirty="0"/>
              <a:t>closest in meaning</a:t>
            </a:r>
            <a:r>
              <a:rPr lang="en-US" dirty="0"/>
              <a:t> to the query embedding.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user asks “What is AI?” → the system finds documents whose vectors have </a:t>
            </a:r>
            <a:r>
              <a:rPr lang="en-US" b="1" dirty="0"/>
              <a:t>highest cosine similarity</a:t>
            </a:r>
            <a:r>
              <a:rPr lang="en-US" dirty="0"/>
              <a:t> to the query vector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5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8B72B-5335-4831-89CB-7DEE6DC40AB9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>                                  </a:t>
            </a:r>
            <a:r>
              <a:rPr lang="en-US" b="1" dirty="0"/>
              <a:t>LLMs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93A9ED-EF65-46BE-AFE0-C7F3D3450B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455" y="2070732"/>
            <a:ext cx="879715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(Large Language Model)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answers using both its internal knowledge and retrieved information.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Receives 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retrieval step to produce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and relevant answers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query and retrieved documents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a prompt for generation.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summarize, explain, or reason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retrieved knowledge.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answers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precise and grounded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using the LLM alone.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008B9C-6608-4542-906F-8A35C740A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41" y="4759099"/>
            <a:ext cx="6256118" cy="1504950"/>
          </a:xfrm>
          <a:prstGeom prst="rect">
            <a:avLst/>
          </a:prstGeom>
          <a:effectLst>
            <a:glow rad="127000">
              <a:schemeClr val="accent1">
                <a:alpha val="5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80478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C64C-9653-4DE5-A178-B40FF2B9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149" y="94594"/>
            <a:ext cx="6899201" cy="1596096"/>
          </a:xfrm>
        </p:spPr>
        <p:txBody>
          <a:bodyPr/>
          <a:lstStyle/>
          <a:p>
            <a:r>
              <a:rPr lang="en-US" dirty="0"/>
              <a:t>    </a:t>
            </a:r>
            <a:r>
              <a:rPr lang="en-US" b="1" dirty="0"/>
              <a:t>Overall Working of RAG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48DFAA-14D1-46B4-9142-3D7F45B81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881981"/>
            <a:ext cx="7239000" cy="4238625"/>
          </a:xfrm>
          <a:effectLst>
            <a:outerShdw blurRad="520700" dist="63500" dir="7080000" algn="ctr" rotWithShape="0">
              <a:srgbClr val="000000">
                <a:alpha val="5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9413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8A49-0C34-46CB-A6F1-16B8FD77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Steps and few Important Python Library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268A8-5734-4D34-A33B-79586F8C9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2185987"/>
            <a:ext cx="7898079" cy="3342454"/>
          </a:xfrm>
        </p:spPr>
      </p:pic>
    </p:spTree>
    <p:extLst>
      <p:ext uri="{BB962C8B-B14F-4D97-AF65-F5344CB8AC3E}">
        <p14:creationId xmlns:p14="http://schemas.microsoft.com/office/powerpoint/2010/main" val="3276275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B25091-8177-49F1-93ED-BC9C87AB9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3" y="1114096"/>
            <a:ext cx="8626816" cy="4435365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41000"/>
              </a:srgbClr>
            </a:outerShdw>
            <a:softEdge rad="5080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4242-DFBF-4DD2-A633-3E02431E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Questions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01A13C-6643-4644-BACE-95FC4B01B3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083" y="2235732"/>
            <a:ext cx="887073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main difference between a standard LLM response and a response generated using RAG?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RAG use embeddings and vector databases to improve answer relevance?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key steps involved in building a RAG pipeline for a document corpus?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scenarios is RAG particularly more effective than a pure generative model?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common challenges or pitfalls when implementing RAG systems, and how can they be mitigated?</a:t>
            </a:r>
          </a:p>
        </p:txBody>
      </p:sp>
    </p:spTree>
    <p:extLst>
      <p:ext uri="{BB962C8B-B14F-4D97-AF65-F5344CB8AC3E}">
        <p14:creationId xmlns:p14="http://schemas.microsoft.com/office/powerpoint/2010/main" val="24242120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788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Inter</vt:lpstr>
      <vt:lpstr>Trebuchet MS</vt:lpstr>
      <vt:lpstr>Wingdings 3</vt:lpstr>
      <vt:lpstr>Facet</vt:lpstr>
      <vt:lpstr>Office Theme</vt:lpstr>
      <vt:lpstr>Introduction to RAG (Retrieval-Augmented Generation)</vt:lpstr>
      <vt:lpstr>What is RAG?</vt:lpstr>
      <vt:lpstr>         How RAG Works ?</vt:lpstr>
      <vt:lpstr>    Components of RAG</vt:lpstr>
      <vt:lpstr>  Documents in RAG</vt:lpstr>
      <vt:lpstr>Embeddings</vt:lpstr>
      <vt:lpstr>PowerPoint Presentation</vt:lpstr>
      <vt:lpstr>    Retrievals</vt:lpstr>
      <vt:lpstr>    Cosine Similarity Search</vt:lpstr>
      <vt:lpstr>                                  LLMs</vt:lpstr>
      <vt:lpstr>    Overall Working of RAG</vt:lpstr>
      <vt:lpstr>RAG Steps and few Important Python Library</vt:lpstr>
      <vt:lpstr>PowerPoint Presentation</vt:lpstr>
      <vt:lpstr>    Questions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RAG (Retrieval-Augmented Generation)</dc:title>
  <dc:subject/>
  <dc:creator/>
  <cp:keywords/>
  <dc:description>generated using python-pptx</dc:description>
  <cp:lastModifiedBy>Admin</cp:lastModifiedBy>
  <cp:revision>44</cp:revision>
  <dcterms:created xsi:type="dcterms:W3CDTF">2013-01-27T09:14:16Z</dcterms:created>
  <dcterms:modified xsi:type="dcterms:W3CDTF">2026-01-15T09:22:42Z</dcterms:modified>
  <cp:category/>
</cp:coreProperties>
</file>