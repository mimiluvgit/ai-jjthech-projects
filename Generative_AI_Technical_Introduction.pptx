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70" r:id="rId10"/>
    <p:sldId id="271" r:id="rId11"/>
    <p:sldId id="265" r:id="rId12"/>
    <p:sldId id="266" r:id="rId13"/>
    <p:sldId id="267" r:id="rId14"/>
    <p:sldId id="272" r:id="rId15"/>
    <p:sldId id="273" r:id="rId16"/>
    <p:sldId id="268" r:id="rId17"/>
    <p:sldId id="274" r:id="rId18"/>
    <p:sldId id="275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791" autoAdjust="0"/>
  </p:normalViewPr>
  <p:slideViewPr>
    <p:cSldViewPr snapToGrid="0" snapToObjects="1">
      <p:cViewPr varScale="1">
        <p:scale>
          <a:sx n="57" d="100"/>
          <a:sy n="57" d="100"/>
        </p:scale>
        <p:origin x="15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latform.openai.com/tokenizer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527522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/>
            </a:pPr>
            <a:r>
              <a:rPr lang="en-US" dirty="0"/>
              <a:t>						</a:t>
            </a:r>
            <a:r>
              <a:rPr dirty="0"/>
              <a:t>Generative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1" y="1371599"/>
            <a:ext cx="86090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Generative AI (</a:t>
            </a:r>
            <a:r>
              <a:rPr lang="en-US" b="1" i="0" dirty="0" err="1">
                <a:solidFill>
                  <a:srgbClr val="0A0A0A"/>
                </a:solidFill>
                <a:effectLst/>
                <a:latin typeface="Google Sans"/>
              </a:rPr>
              <a:t>GenAI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)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is </a:t>
            </a:r>
            <a:r>
              <a:rPr lang="en-US" dirty="0"/>
              <a:t>a type of artificial intelligence that can create new, original content, such as text, images, code, audio, and video, by learning patterns from vast amounts of existing data</a:t>
            </a:r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08309B-94D0-421C-A89A-E66D86D77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819" y="2721214"/>
            <a:ext cx="6522362" cy="34545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5738" y="182880"/>
            <a:ext cx="62536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/>
            </a:pPr>
            <a:r>
              <a:rPr lang="en-US" dirty="0"/>
              <a:t>LLM – Large Language Models 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D154FF-03E0-498C-A662-9702F0BAEF16}"/>
              </a:ext>
            </a:extLst>
          </p:cNvPr>
          <p:cNvSpPr txBox="1"/>
          <p:nvPr/>
        </p:nvSpPr>
        <p:spPr>
          <a:xfrm>
            <a:off x="315310" y="998483"/>
            <a:ext cx="86920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type of AI model</a:t>
            </a:r>
            <a:r>
              <a:rPr lang="en-US" dirty="0"/>
              <a:t> trained on massive text datasets to understand and generate human-like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 using </a:t>
            </a:r>
            <a:r>
              <a:rPr lang="en-US" b="1" dirty="0"/>
              <a:t>deep learning (Transformer architecture)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Learns </a:t>
            </a:r>
            <a:r>
              <a:rPr lang="en-US" b="1" dirty="0"/>
              <a:t>facts, and reasoning patterns</a:t>
            </a:r>
            <a:r>
              <a:rPr lang="en-US" dirty="0"/>
              <a:t> from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Powers tools like </a:t>
            </a:r>
            <a:r>
              <a:rPr lang="en-US" b="1" dirty="0" err="1"/>
              <a:t>ChatGPT</a:t>
            </a:r>
            <a:r>
              <a:rPr lang="en-US" b="1" dirty="0"/>
              <a:t>, Gemini, Claude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for </a:t>
            </a:r>
            <a:r>
              <a:rPr lang="en-US" b="1" dirty="0"/>
              <a:t>text generation, summarization, coding, and Q&amp;A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286BA0-89DB-41BF-9093-F2D52E3A3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991" y="2983637"/>
            <a:ext cx="5963174" cy="3020865"/>
          </a:xfrm>
          <a:prstGeom prst="rect">
            <a:avLst/>
          </a:prstGeom>
          <a:effectLst>
            <a:glow rad="127000">
              <a:schemeClr val="accent1">
                <a:alpha val="94000"/>
              </a:schemeClr>
            </a:glow>
            <a:softEdge rad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4985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/>
            </a:pPr>
            <a:r>
              <a:rPr lang="en-US" dirty="0"/>
              <a:t>Tokens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8564" y="1138836"/>
            <a:ext cx="794687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Tokens</a:t>
            </a:r>
            <a:r>
              <a:rPr lang="en-US" dirty="0"/>
              <a:t> are the smallest units of text an AI model reads or generates.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can be </a:t>
            </a:r>
            <a:r>
              <a:rPr lang="en-US" b="1" dirty="0"/>
              <a:t>a word, part of a word, or punctuation mark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Models don’t see whole words — they see </a:t>
            </a:r>
            <a:r>
              <a:rPr lang="en-US" b="1" dirty="0"/>
              <a:t>tokens</a:t>
            </a:r>
            <a:r>
              <a:rPr lang="en-US" dirty="0"/>
              <a:t> (</a:t>
            </a:r>
            <a:r>
              <a:rPr lang="en-US" dirty="0" err="1"/>
              <a:t>subwords</a:t>
            </a:r>
            <a:r>
              <a:rPr lang="en-US" dirty="0"/>
              <a:t> or symbols)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 average, </a:t>
            </a:r>
            <a:r>
              <a:rPr lang="en-US" b="1" dirty="0"/>
              <a:t>1 token ≈ ¾ of a word</a:t>
            </a:r>
            <a:r>
              <a:rPr lang="en-US" dirty="0"/>
              <a:t> (e.g., 100 tokens ≈ 75 words)</a:t>
            </a:r>
          </a:p>
          <a:p>
            <a:endParaRPr lang="it-IT" dirty="0"/>
          </a:p>
          <a:p>
            <a:r>
              <a:rPr lang="it-IT" dirty="0"/>
              <a:t>Eg: "I love pizza" → ["I", " love", " pizza"]</a:t>
            </a:r>
            <a:r>
              <a:rPr lang="en-US" dirty="0"/>
              <a:t> - Total tokens = 3</a:t>
            </a:r>
          </a:p>
          <a:p>
            <a:r>
              <a:rPr lang="en-US" dirty="0"/>
              <a:t>Play here: </a:t>
            </a:r>
            <a:r>
              <a:rPr lang="en-US" dirty="0">
                <a:hlinkClick r:id="rId2"/>
              </a:rPr>
              <a:t>Tokenizer - </a:t>
            </a:r>
            <a:r>
              <a:rPr lang="en-US" dirty="0" err="1">
                <a:hlinkClick r:id="rId2"/>
              </a:rPr>
              <a:t>OpenAI</a:t>
            </a:r>
            <a:r>
              <a:rPr lang="en-US" dirty="0">
                <a:hlinkClick r:id="rId2"/>
              </a:rPr>
              <a:t> API</a:t>
            </a:r>
            <a:endParaRPr lang="en-US" dirty="0"/>
          </a:p>
          <a:p>
            <a:endParaRPr lang="en-US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5C18DF-7204-49C9-8AD5-C0DDB9F3D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057" y="3804130"/>
            <a:ext cx="4850221" cy="2669092"/>
          </a:xfrm>
          <a:prstGeom prst="rect">
            <a:avLst/>
          </a:prstGeom>
          <a:effectLst>
            <a:glow rad="127000">
              <a:schemeClr val="accent1">
                <a:alpha val="77000"/>
              </a:schemeClr>
            </a:glow>
            <a:softEdge rad="508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654057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/>
            </a:pPr>
            <a:r>
              <a:rPr dirty="0"/>
              <a:t>Generative AI Workflow</a:t>
            </a:r>
            <a:r>
              <a:rPr lang="en-US" dirty="0"/>
              <a:t> and Prompts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980070" cy="41395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1️⃣ Data Collection → 2️⃣ Training → 3️⃣ Fine-tuning → 4️⃣ Inference</a:t>
            </a:r>
          </a:p>
          <a:p>
            <a:pPr>
              <a:spcAft>
                <a:spcPts val="600"/>
              </a:spcAft>
              <a:defRPr sz="2000"/>
            </a:pPr>
            <a:r>
              <a:rPr dirty="0"/>
              <a:t>During inference, models predict the next token to form coherent outputs.</a:t>
            </a:r>
            <a:endParaRPr lang="en-US" dirty="0"/>
          </a:p>
          <a:p>
            <a:pPr>
              <a:spcAft>
                <a:spcPts val="600"/>
              </a:spcAft>
              <a:defRPr sz="2000"/>
            </a:pPr>
            <a:endParaRPr lang="en-US" dirty="0"/>
          </a:p>
          <a:p>
            <a:pPr>
              <a:spcAft>
                <a:spcPts val="600"/>
              </a:spcAft>
              <a:defRPr sz="2000"/>
            </a:pPr>
            <a:r>
              <a:rPr lang="en-US" b="1" u="sng" dirty="0"/>
              <a:t>AI Prompts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A </a:t>
            </a:r>
            <a:r>
              <a:rPr lang="en-US" b="1" dirty="0"/>
              <a:t>prompt</a:t>
            </a:r>
            <a:r>
              <a:rPr lang="en-US" dirty="0"/>
              <a:t> is the input or instruction given to a generative AI model.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It guides the model on </a:t>
            </a:r>
            <a:r>
              <a:rPr lang="en-US" b="1" dirty="0"/>
              <a:t>what to do or generate</a:t>
            </a:r>
            <a:r>
              <a:rPr lang="en-US" dirty="0"/>
              <a:t> (text, code, image, etc.).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Can include </a:t>
            </a:r>
            <a:r>
              <a:rPr lang="en-US" b="1" dirty="0"/>
              <a:t>questions, examples, or context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Effective prompting = better results.</a:t>
            </a:r>
            <a:endParaRPr lang="en-US" b="1" dirty="0"/>
          </a:p>
          <a:p>
            <a:pPr>
              <a:spcAft>
                <a:spcPts val="600"/>
              </a:spcAft>
              <a:defRPr sz="2000"/>
            </a:pPr>
            <a:endParaRPr lang="en-US" dirty="0"/>
          </a:p>
          <a:p>
            <a:pPr>
              <a:spcAft>
                <a:spcPts val="600"/>
              </a:spcAft>
              <a:defRPr sz="2000"/>
            </a:pPr>
            <a:r>
              <a:rPr lang="en-US" dirty="0"/>
              <a:t>Example: </a:t>
            </a:r>
            <a:r>
              <a:rPr lang="en-US" i="1" dirty="0"/>
              <a:t>“Summarize Kubernetes in 3 bullet points.”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523893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/>
            </a:pPr>
            <a:r>
              <a:rPr lang="en-US" dirty="0"/>
              <a:t>						Training Data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1949E-6FDF-4C12-B66F-AE9150C8A6C8}"/>
              </a:ext>
            </a:extLst>
          </p:cNvPr>
          <p:cNvSpPr txBox="1"/>
          <p:nvPr/>
        </p:nvSpPr>
        <p:spPr>
          <a:xfrm>
            <a:off x="457200" y="1513490"/>
            <a:ext cx="8382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Training data</a:t>
            </a:r>
            <a:r>
              <a:rPr lang="en-US" dirty="0"/>
              <a:t> is the </a:t>
            </a:r>
            <a:r>
              <a:rPr lang="en-US" b="1" dirty="0"/>
              <a:t>collection of text, images, or other information</a:t>
            </a:r>
            <a:r>
              <a:rPr lang="en-US" dirty="0"/>
              <a:t> used to teach an AI model how to understand and generate content.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 includes things like </a:t>
            </a:r>
            <a:r>
              <a:rPr lang="en-US" b="1" dirty="0"/>
              <a:t>books, websites, articles, code, and conversations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model learns </a:t>
            </a:r>
            <a:r>
              <a:rPr lang="en-US" b="1" dirty="0"/>
              <a:t>patterns, grammar, facts, and context</a:t>
            </a:r>
            <a:r>
              <a:rPr lang="en-US" dirty="0"/>
              <a:t> from this data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model keeps </a:t>
            </a:r>
            <a:r>
              <a:rPr lang="en-US" b="1" dirty="0"/>
              <a:t>fine-tuning itself</a:t>
            </a:r>
            <a:r>
              <a:rPr lang="en-US" dirty="0"/>
              <a:t> again and again until it learns to </a:t>
            </a:r>
            <a:r>
              <a:rPr lang="en-US" b="1" dirty="0"/>
              <a:t>predict the next word correctly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more </a:t>
            </a:r>
            <a:r>
              <a:rPr lang="en-US" b="1" dirty="0"/>
              <a:t>diverse and high-quality</a:t>
            </a:r>
            <a:r>
              <a:rPr lang="en-US" dirty="0"/>
              <a:t> the training data, the </a:t>
            </a:r>
            <a:r>
              <a:rPr lang="en-US" b="1" dirty="0"/>
              <a:t>smarter and more accurate</a:t>
            </a:r>
            <a:r>
              <a:rPr lang="en-US" dirty="0"/>
              <a:t> the model becomes.</a:t>
            </a:r>
          </a:p>
          <a:p>
            <a:endParaRPr lang="en-US" dirty="0"/>
          </a:p>
          <a:p>
            <a:r>
              <a:rPr lang="en-US" dirty="0"/>
              <a:t>Example: </a:t>
            </a:r>
            <a:r>
              <a:rPr lang="en-US" dirty="0" err="1"/>
              <a:t>ChatGPT</a:t>
            </a:r>
            <a:r>
              <a:rPr lang="en-US" dirty="0"/>
              <a:t> was trained on a mix of </a:t>
            </a:r>
            <a:r>
              <a:rPr lang="en-US" b="1" dirty="0"/>
              <a:t>internet text, coding examples, and documents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457200"/>
            <a:ext cx="68632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/>
            </a:pPr>
            <a:r>
              <a:rPr lang="en-US" dirty="0"/>
              <a:t>						Fine Tuning in AI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4853E2-DBB3-4E83-80AB-2953202CA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481" y="2466899"/>
            <a:ext cx="6976326" cy="1981814"/>
          </a:xfrm>
          <a:prstGeom prst="rect">
            <a:avLst/>
          </a:prstGeom>
          <a:effectLst>
            <a:glow rad="127000">
              <a:schemeClr val="accent1">
                <a:alpha val="88000"/>
              </a:schemeClr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0E9290-17E1-4E58-9C02-8094F9D02926}"/>
              </a:ext>
            </a:extLst>
          </p:cNvPr>
          <p:cNvSpPr txBox="1"/>
          <p:nvPr/>
        </p:nvSpPr>
        <p:spPr>
          <a:xfrm>
            <a:off x="457200" y="1292772"/>
            <a:ext cx="84871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Fine-tuning means </a:t>
            </a:r>
            <a:r>
              <a:rPr lang="en-US" b="1" dirty="0"/>
              <a:t>training a pre-trained model</a:t>
            </a:r>
            <a:r>
              <a:rPr lang="en-US" dirty="0"/>
              <a:t> on a smaller, specific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helps the model </a:t>
            </a:r>
            <a:r>
              <a:rPr lang="en-US" b="1" dirty="0"/>
              <a:t>adapt to a particular task or domain</a:t>
            </a:r>
            <a:r>
              <a:rPr lang="en-US" dirty="0"/>
              <a:t> (like healthcare, finance, or chatbots).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4102FD-A6D7-4D92-80F3-96F961350F5E}"/>
              </a:ext>
            </a:extLst>
          </p:cNvPr>
          <p:cNvSpPr txBox="1"/>
          <p:nvPr/>
        </p:nvSpPr>
        <p:spPr>
          <a:xfrm>
            <a:off x="1103586" y="5286702"/>
            <a:ext cx="70712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Note: Fine Tuning can be expensive</a:t>
            </a:r>
            <a:r>
              <a:rPr lang="en-US" dirty="0"/>
              <a:t>, and here’s why: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requires </a:t>
            </a:r>
            <a:r>
              <a:rPr lang="en-US" b="1" dirty="0"/>
              <a:t>powerful GPUs or cloud compute</a:t>
            </a:r>
            <a:r>
              <a:rPr lang="en-US" dirty="0"/>
              <a:t>, which cost money.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Large models have </a:t>
            </a:r>
            <a:r>
              <a:rPr lang="en-US" b="1" dirty="0"/>
              <a:t>billions of parameters</a:t>
            </a:r>
            <a:r>
              <a:rPr lang="en-US" dirty="0"/>
              <a:t> that need updating.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85697" y="167269"/>
            <a:ext cx="32571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/>
            </a:pPr>
            <a:r>
              <a:rPr lang="en-US" dirty="0"/>
              <a:t>Type of Models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91662" y="957892"/>
            <a:ext cx="8560676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🧠</a:t>
            </a:r>
            <a:r>
              <a:rPr lang="en-US" sz="1600" b="1" dirty="0"/>
              <a:t>Text Generation models: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Predict the </a:t>
            </a:r>
            <a:r>
              <a:rPr lang="en-US" sz="1600" b="1" dirty="0"/>
              <a:t>next word</a:t>
            </a:r>
            <a:r>
              <a:rPr lang="en-US" sz="1600" dirty="0"/>
              <a:t> in a sequence.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Ideal for </a:t>
            </a:r>
            <a:r>
              <a:rPr lang="en-US" sz="1600" b="1" dirty="0"/>
              <a:t>chatbots, writing, and reasoning</a:t>
            </a:r>
            <a:r>
              <a:rPr lang="en-US" sz="1600" dirty="0"/>
              <a:t>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Use Cases:</a:t>
            </a:r>
            <a:r>
              <a:rPr lang="en-US" sz="1600" dirty="0"/>
              <a:t> Chatbots · Summarization · Content creation · 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dirty="0"/>
              <a:t>🖼️</a:t>
            </a:r>
            <a:r>
              <a:rPr lang="en-US" sz="1600" b="1" dirty="0"/>
              <a:t>Multimodal LLMs: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Handle </a:t>
            </a:r>
            <a:r>
              <a:rPr lang="en-US" sz="1600" b="1" dirty="0"/>
              <a:t>multiple input types</a:t>
            </a:r>
            <a:r>
              <a:rPr lang="en-US" sz="1600" dirty="0"/>
              <a:t> — text, images, audio, video.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Combine </a:t>
            </a:r>
            <a:r>
              <a:rPr lang="en-US" sz="1600" b="1" dirty="0"/>
              <a:t>visual and language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Use Cases:</a:t>
            </a:r>
            <a:r>
              <a:rPr lang="en-US" sz="1600" dirty="0"/>
              <a:t> Image captioning · Visual reasoning · Video Q&amp;A · Text–image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dirty="0"/>
              <a:t>🌫️</a:t>
            </a:r>
            <a:r>
              <a:rPr lang="en-US" sz="1600" b="1" dirty="0"/>
              <a:t>Diffusion Models: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</a:t>
            </a:r>
            <a:r>
              <a:rPr lang="en-US" sz="1600" b="1" dirty="0"/>
              <a:t>generative AI model</a:t>
            </a:r>
            <a:r>
              <a:rPr lang="en-US" sz="1600" dirty="0"/>
              <a:t> that creates new data (images, audio, text)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Learns to </a:t>
            </a:r>
            <a:r>
              <a:rPr lang="en-US" sz="1600" b="1" dirty="0"/>
              <a:t>convert random noise into structured, realistic data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Use Cases:</a:t>
            </a:r>
            <a:r>
              <a:rPr lang="en-US" sz="1600" dirty="0"/>
              <a:t> Image generation · Art creation · Text-to-image AI (e.g., Stable Diffusion)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dirty="0"/>
              <a:t>🧩 </a:t>
            </a:r>
            <a:r>
              <a:rPr lang="en-US" sz="1600" b="1" dirty="0"/>
              <a:t>Domain-Specific LLMs: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Trained or fine-tuned</a:t>
            </a:r>
            <a:r>
              <a:rPr lang="en-US" sz="1600" dirty="0"/>
              <a:t> for specific industries or fields.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Examples: </a:t>
            </a:r>
            <a:r>
              <a:rPr lang="en-US" sz="1600" b="1" dirty="0" err="1"/>
              <a:t>BioGPT</a:t>
            </a:r>
            <a:r>
              <a:rPr lang="en-US" sz="1600" b="1" dirty="0"/>
              <a:t> (medical)</a:t>
            </a:r>
            <a:r>
              <a:rPr lang="en-US" sz="1600" dirty="0"/>
              <a:t> · </a:t>
            </a:r>
            <a:r>
              <a:rPr lang="en-US" sz="1600" b="1" dirty="0" err="1"/>
              <a:t>BloombergGPT</a:t>
            </a:r>
            <a:r>
              <a:rPr lang="en-US" sz="1600" b="1" dirty="0"/>
              <a:t> (finance)</a:t>
            </a:r>
            <a:r>
              <a:rPr lang="en-US" sz="1600" dirty="0"/>
              <a:t> · </a:t>
            </a:r>
            <a:r>
              <a:rPr lang="en-US" sz="1600" b="1" dirty="0"/>
              <a:t>Code Llama / Codex (programming)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Use Cases:</a:t>
            </a:r>
            <a:r>
              <a:rPr lang="en-US" sz="1600" dirty="0"/>
              <a:t> Healthcare insights · Financial analysis · Code generation</a:t>
            </a:r>
          </a:p>
          <a:p>
            <a:r>
              <a:rPr lang="en-US" sz="1600" dirty="0">
                <a:solidFill>
                  <a:srgbClr val="242424"/>
                </a:solidFill>
                <a:latin typeface="source-serif-pro"/>
              </a:rPr>
              <a:t>Note: </a:t>
            </a:r>
            <a:r>
              <a:rPr lang="en-US" sz="1600" b="0" i="0" dirty="0" err="1">
                <a:solidFill>
                  <a:srgbClr val="242424"/>
                </a:solidFill>
                <a:effectLst/>
                <a:latin typeface="source-serif-pro"/>
              </a:rPr>
              <a:t>BioGPT</a:t>
            </a: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 was pre-trained using a distributed training setup with 8 NVIDIA V100 GPUs, each with 32GB of memory</a:t>
            </a:r>
            <a:endParaRPr lang="en-US" sz="1600" dirty="0"/>
          </a:p>
          <a:p>
            <a:pPr>
              <a:spcAft>
                <a:spcPts val="600"/>
              </a:spcAft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31328" y="457200"/>
            <a:ext cx="43718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 err="1">
                <a:solidFill>
                  <a:srgbClr val="2D2E2E"/>
                </a:solidFill>
                <a:effectLst/>
                <a:latin typeface="Degular"/>
              </a:rPr>
              <a:t>OpenAI</a:t>
            </a:r>
            <a:r>
              <a:rPr lang="en-US" sz="2800" b="1" i="0" dirty="0">
                <a:solidFill>
                  <a:srgbClr val="2D2E2E"/>
                </a:solidFill>
                <a:effectLst/>
                <a:latin typeface="Degular"/>
              </a:rPr>
              <a:t> models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24878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600"/>
              </a:spcAft>
              <a:defRPr sz="2000"/>
            </a:pPr>
            <a:r>
              <a:rPr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ECB966-3F22-4540-A0BC-8B226ABA8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029" y="1371600"/>
            <a:ext cx="7214839" cy="4781796"/>
          </a:xfrm>
          <a:prstGeom prst="rect">
            <a:avLst/>
          </a:prstGeom>
          <a:effectLst>
            <a:glow rad="127000">
              <a:schemeClr val="accent1">
                <a:alpha val="79000"/>
              </a:schemeClr>
            </a:glo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EADF81-31E9-42D7-974B-DFD2BD4F8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60" y="1363659"/>
            <a:ext cx="8350679" cy="4710545"/>
          </a:xfrm>
          <a:prstGeom prst="rect">
            <a:avLst/>
          </a:prstGeom>
          <a:effectLst>
            <a:glow rad="127000">
              <a:schemeClr val="accent1">
                <a:alpha val="79000"/>
              </a:schemeClr>
            </a:glo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C38838-1391-4889-BF4B-2049AD81F28A}"/>
              </a:ext>
            </a:extLst>
          </p:cNvPr>
          <p:cNvSpPr txBox="1"/>
          <p:nvPr/>
        </p:nvSpPr>
        <p:spPr>
          <a:xfrm>
            <a:off x="2442117" y="323385"/>
            <a:ext cx="43601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OPEN AI Model Cost</a:t>
            </a:r>
          </a:p>
        </p:txBody>
      </p:sp>
    </p:spTree>
    <p:extLst>
      <p:ext uri="{BB962C8B-B14F-4D97-AF65-F5344CB8AC3E}">
        <p14:creationId xmlns:p14="http://schemas.microsoft.com/office/powerpoint/2010/main" val="692535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3E4336-33A8-4747-8CC2-F8E5958E6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284" y="418090"/>
            <a:ext cx="7839306" cy="6021820"/>
          </a:xfrm>
          <a:prstGeom prst="rect">
            <a:avLst/>
          </a:prstGeom>
          <a:effectLst>
            <a:glow rad="127000">
              <a:schemeClr val="accent1">
                <a:alpha val="8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695636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1668" y="457200"/>
            <a:ext cx="61554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/>
            </a:pPr>
            <a:r>
              <a:rPr lang="en-US" dirty="0"/>
              <a:t>Model Bias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C846C6-1169-4711-BC95-EEEA851A5367}"/>
              </a:ext>
            </a:extLst>
          </p:cNvPr>
          <p:cNvSpPr txBox="1"/>
          <p:nvPr/>
        </p:nvSpPr>
        <p:spPr>
          <a:xfrm>
            <a:off x="390294" y="2810107"/>
            <a:ext cx="87537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bias refers to </a:t>
            </a:r>
            <a:r>
              <a:rPr lang="en-US" b="1" dirty="0"/>
              <a:t>systematic errors</a:t>
            </a:r>
            <a:r>
              <a:rPr lang="en-US" dirty="0"/>
              <a:t> in an AI model that cause unfair, inaccurate, or unbalanced outputs.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happens when the model learns </a:t>
            </a:r>
            <a:r>
              <a:rPr lang="en-US" b="1" dirty="0"/>
              <a:t>biased patterns</a:t>
            </a:r>
            <a:r>
              <a:rPr lang="en-US" dirty="0"/>
              <a:t> from training data, such as stereotypes or uneven representation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Bias can lead to </a:t>
            </a:r>
            <a:r>
              <a:rPr lang="en-US" b="1" dirty="0"/>
              <a:t>unfair decisions</a:t>
            </a:r>
            <a:r>
              <a:rPr lang="en-US" dirty="0"/>
              <a:t>, reduced accuracy, and ethical issues in real-world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Mitigation requires </a:t>
            </a:r>
            <a:r>
              <a:rPr lang="en-US" b="1" dirty="0"/>
              <a:t>diverse data</a:t>
            </a:r>
            <a:r>
              <a:rPr lang="en-US" dirty="0"/>
              <a:t>, continuous monitoring, and responsible AI practices.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F4426A-8780-4720-8A8A-93C3589C2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0" y="193808"/>
            <a:ext cx="3634605" cy="2476165"/>
          </a:xfrm>
          <a:prstGeom prst="rect">
            <a:avLst/>
          </a:prstGeom>
          <a:effectLst>
            <a:glow rad="127000">
              <a:schemeClr val="accent1">
                <a:alpha val="88000"/>
              </a:schemeClr>
            </a:glo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C7C919-1F70-4F31-B576-63FC8B440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333" y="945942"/>
            <a:ext cx="6378496" cy="4748293"/>
          </a:xfrm>
          <a:prstGeom prst="rect">
            <a:avLst/>
          </a:prstGeom>
          <a:effectLst>
            <a:glow rad="127000">
              <a:schemeClr val="accent1">
                <a:alpha val="90000"/>
              </a:schemeClr>
            </a:glo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7423" y="457200"/>
            <a:ext cx="60216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/>
            </a:pPr>
            <a:r>
              <a:rPr lang="en-US" dirty="0"/>
              <a:t>				  Inference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F817DB-F15F-4268-9052-B108397A5AA8}"/>
              </a:ext>
            </a:extLst>
          </p:cNvPr>
          <p:cNvSpPr txBox="1"/>
          <p:nvPr/>
        </p:nvSpPr>
        <p:spPr>
          <a:xfrm>
            <a:off x="178420" y="1371600"/>
            <a:ext cx="87871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Inference</a:t>
            </a:r>
            <a:r>
              <a:rPr lang="en-US" dirty="0"/>
              <a:t> is the process where an AI model uses what it has learned during training to </a:t>
            </a:r>
            <a:r>
              <a:rPr lang="en-US" b="1" dirty="0"/>
              <a:t>generate outputs</a:t>
            </a:r>
            <a:r>
              <a:rPr lang="en-US" dirty="0"/>
              <a:t>, such as predictions, answers, or classifications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the </a:t>
            </a:r>
            <a:r>
              <a:rPr lang="en-US" b="1" dirty="0"/>
              <a:t>runtime phase</a:t>
            </a:r>
            <a:r>
              <a:rPr lang="en-US" dirty="0"/>
              <a:t> of AI when the model is actually used by end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Example: </a:t>
            </a:r>
            <a:r>
              <a:rPr lang="en-US" dirty="0"/>
              <a:t>Giving a prompt to </a:t>
            </a:r>
            <a:r>
              <a:rPr lang="en-US" dirty="0" err="1"/>
              <a:t>ChatGPT</a:t>
            </a:r>
            <a:r>
              <a:rPr lang="en-US" dirty="0"/>
              <a:t> and receiving a response is an </a:t>
            </a:r>
            <a:r>
              <a:rPr lang="en-US" b="1" dirty="0"/>
              <a:t>inference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FA5F7C-74B9-4496-9745-826612067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337" y="3384452"/>
            <a:ext cx="4371278" cy="2971743"/>
          </a:xfrm>
          <a:prstGeom prst="rect">
            <a:avLst/>
          </a:prstGeom>
          <a:effectLst>
            <a:glow rad="127000">
              <a:schemeClr val="accent1">
                <a:alpha val="62000"/>
              </a:schemeClr>
            </a:glo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E49444-13B7-47CC-A8B2-3160D4560986}"/>
              </a:ext>
            </a:extLst>
          </p:cNvPr>
          <p:cNvSpPr txBox="1"/>
          <p:nvPr/>
        </p:nvSpPr>
        <p:spPr>
          <a:xfrm>
            <a:off x="390293" y="457200"/>
            <a:ext cx="841917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Temperature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Controls </a:t>
            </a:r>
            <a:r>
              <a:rPr lang="en-US" b="1" dirty="0"/>
              <a:t>randomness</a:t>
            </a:r>
            <a:r>
              <a:rPr lang="en-US" dirty="0"/>
              <a:t> of the model’s output.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Low temperature (0–0.3):</a:t>
            </a:r>
            <a:r>
              <a:rPr lang="en-US" dirty="0"/>
              <a:t> More deterministic, focused answers.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High temperature (0.7–1+):</a:t>
            </a:r>
            <a:r>
              <a:rPr lang="en-US" dirty="0"/>
              <a:t> More creative, diverse answers</a:t>
            </a:r>
          </a:p>
          <a:p>
            <a:endParaRPr lang="en-US" dirty="0"/>
          </a:p>
          <a:p>
            <a:r>
              <a:rPr lang="en-US" b="1" dirty="0"/>
              <a:t>Top-P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Controls randomness by choosing from the </a:t>
            </a:r>
            <a:r>
              <a:rPr lang="en-US" b="1" dirty="0"/>
              <a:t>smallest group of tokens whose combined probability = P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Example: Top-P = 0.9 → Model picks from tokens that together make up </a:t>
            </a:r>
            <a:r>
              <a:rPr lang="en-US" b="1" dirty="0"/>
              <a:t>90% probability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Top-K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Model chooses from the </a:t>
            </a:r>
            <a:r>
              <a:rPr lang="en-US" b="1" dirty="0"/>
              <a:t>top K most likely tokens</a:t>
            </a:r>
            <a:r>
              <a:rPr lang="en-US" dirty="0"/>
              <a:t> every step.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Example: Top-K = 50 → Only the 50 highest-probability tokens are considered.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Fixed-size selection </a:t>
            </a:r>
          </a:p>
          <a:p>
            <a:endParaRPr lang="en-US" dirty="0"/>
          </a:p>
          <a:p>
            <a:r>
              <a:rPr lang="en-US" b="1" dirty="0"/>
              <a:t>Note: </a:t>
            </a:r>
            <a:r>
              <a:rPr lang="en-US" dirty="0"/>
              <a:t>Temperature, Top-P, and Top-K are collectively known as </a:t>
            </a:r>
            <a:r>
              <a:rPr lang="en-US" i="1" dirty="0"/>
              <a:t>sampling/decoding parameters</a:t>
            </a:r>
            <a:r>
              <a:rPr lang="en-US" dirty="0"/>
              <a:t>, which control the randomness and style of text generation in AI models</a:t>
            </a:r>
          </a:p>
        </p:txBody>
      </p:sp>
    </p:spTree>
    <p:extLst>
      <p:ext uri="{BB962C8B-B14F-4D97-AF65-F5344CB8AC3E}">
        <p14:creationId xmlns:p14="http://schemas.microsoft.com/office/powerpoint/2010/main" val="2874585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FB5BF9-01C4-4BAE-9B9B-7B323A9DA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184" y="611193"/>
            <a:ext cx="7295631" cy="4189170"/>
          </a:xfrm>
          <a:prstGeom prst="rect">
            <a:avLst/>
          </a:prstGeom>
          <a:effectLst>
            <a:glow rad="127000">
              <a:schemeClr val="accent1">
                <a:alpha val="98000"/>
              </a:schemeClr>
            </a:glo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AFEC78-6A4B-46C6-B27D-0580A4CF1744}"/>
              </a:ext>
            </a:extLst>
          </p:cNvPr>
          <p:cNvSpPr txBox="1"/>
          <p:nvPr/>
        </p:nvSpPr>
        <p:spPr>
          <a:xfrm>
            <a:off x="524107" y="5263376"/>
            <a:ext cx="7828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is a </a:t>
            </a:r>
            <a:r>
              <a:rPr lang="en-US" b="1" dirty="0"/>
              <a:t>simple, clean code example</a:t>
            </a:r>
            <a:r>
              <a:rPr lang="en-US" dirty="0"/>
              <a:t> showing how </a:t>
            </a:r>
            <a:r>
              <a:rPr lang="en-US" b="1" dirty="0"/>
              <a:t>Temperature</a:t>
            </a:r>
            <a:r>
              <a:rPr lang="en-US" dirty="0"/>
              <a:t>, </a:t>
            </a:r>
            <a:r>
              <a:rPr lang="en-US" b="1" dirty="0"/>
              <a:t>Top-P</a:t>
            </a:r>
            <a:r>
              <a:rPr lang="en-US" dirty="0"/>
              <a:t>, and </a:t>
            </a:r>
            <a:r>
              <a:rPr lang="en-US" b="1" dirty="0"/>
              <a:t>Top-K</a:t>
            </a:r>
            <a:r>
              <a:rPr lang="en-US" dirty="0"/>
              <a:t> are used together when generating text</a:t>
            </a:r>
          </a:p>
        </p:txBody>
      </p:sp>
    </p:spTree>
    <p:extLst>
      <p:ext uri="{BB962C8B-B14F-4D97-AF65-F5344CB8AC3E}">
        <p14:creationId xmlns:p14="http://schemas.microsoft.com/office/powerpoint/2010/main" val="3919879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64C944-6C32-4B7B-99F4-C0645E641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052" y="2869590"/>
            <a:ext cx="6369377" cy="3397546"/>
          </a:xfrm>
          <a:prstGeom prst="rect">
            <a:avLst/>
          </a:prstGeom>
          <a:effectLst>
            <a:glow rad="127000">
              <a:schemeClr val="accent1">
                <a:alpha val="96000"/>
              </a:schemeClr>
            </a:glo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A58054-8975-4F37-9C0D-E40F98103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13" y="256478"/>
            <a:ext cx="7638574" cy="22390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52BC16-1C39-4009-93D9-6E9E82BF7648}"/>
              </a:ext>
            </a:extLst>
          </p:cNvPr>
          <p:cNvSpPr txBox="1"/>
          <p:nvPr/>
        </p:nvSpPr>
        <p:spPr>
          <a:xfrm>
            <a:off x="312234" y="479502"/>
            <a:ext cx="858643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a GPU?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GPU is a special computer chip built to handle </a:t>
            </a:r>
            <a:r>
              <a:rPr lang="en-US" b="1" dirty="0"/>
              <a:t>many calculations at the same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Modern GPUs are widely used in </a:t>
            </a:r>
            <a:r>
              <a:rPr lang="en-US" b="1" dirty="0"/>
              <a:t>AI, machine learning, data processing, and scientific computing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can process </a:t>
            </a:r>
            <a:r>
              <a:rPr lang="en-US" b="1" dirty="0"/>
              <a:t>large amounts of data very quickly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GPUs are </a:t>
            </a:r>
            <a:r>
              <a:rPr lang="en-US" b="1" dirty="0"/>
              <a:t>faster than CPUs</a:t>
            </a:r>
            <a:r>
              <a:rPr lang="en-US" dirty="0"/>
              <a:t> for tasks that require </a:t>
            </a:r>
            <a:r>
              <a:rPr lang="en-US" b="1" dirty="0"/>
              <a:t>parallel processing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GPUs have thousands of smaller cores</a:t>
            </a:r>
            <a:r>
              <a:rPr lang="en-US" dirty="0"/>
              <a:t>, while CPUs have only a few powerful cores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Because GPUs can split a big task into </a:t>
            </a:r>
            <a:r>
              <a:rPr lang="en-US" b="1" dirty="0"/>
              <a:t>thousands of small jobs</a:t>
            </a:r>
            <a:r>
              <a:rPr lang="en-US" dirty="0"/>
              <a:t>, they finish parallel workloads much faster.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B25BD2-5BBB-4942-9365-D51FC5172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10" y="3584963"/>
            <a:ext cx="6226612" cy="2519346"/>
          </a:xfrm>
          <a:prstGeom prst="rect">
            <a:avLst/>
          </a:prstGeom>
          <a:effectLst>
            <a:glow rad="127000">
              <a:schemeClr val="accent1">
                <a:alpha val="91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311071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9E2454-26D7-48D5-BA24-EC7C2D7AB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321" y="2375210"/>
            <a:ext cx="6715357" cy="3451272"/>
          </a:xfrm>
          <a:prstGeom prst="rect">
            <a:avLst/>
          </a:prstGeom>
          <a:effectLst>
            <a:glow rad="12700">
              <a:schemeClr val="accent1">
                <a:alpha val="40000"/>
              </a:schemeClr>
            </a:glow>
            <a:outerShdw dist="50800" dir="5400000" algn="ctr" rotWithShape="0">
              <a:srgbClr val="000000">
                <a:alpha val="43137"/>
              </a:srgbClr>
            </a:outerShdw>
            <a:softEdge rad="762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2CDCE7-E91E-4421-BA3A-8365CD79CB55}"/>
              </a:ext>
            </a:extLst>
          </p:cNvPr>
          <p:cNvSpPr txBox="1"/>
          <p:nvPr/>
        </p:nvSpPr>
        <p:spPr>
          <a:xfrm>
            <a:off x="613317" y="546410"/>
            <a:ext cx="82853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303E5F"/>
                </a:solidFill>
                <a:effectLst/>
                <a:latin typeface="Montserrat" panose="020B0604020202020204" pitchFamily="2" charset="0"/>
              </a:rPr>
              <a:t>In </a:t>
            </a:r>
            <a:r>
              <a:rPr lang="en-US" i="0" dirty="0">
                <a:solidFill>
                  <a:srgbClr val="303E5F"/>
                </a:solidFill>
                <a:effectLst/>
                <a:latin typeface="Montserrat" panose="020B0604020202020204" pitchFamily="2" charset="0"/>
              </a:rPr>
              <a:t>Kubernetes, </a:t>
            </a:r>
            <a:r>
              <a:rPr lang="en-US" b="0" i="0" dirty="0">
                <a:solidFill>
                  <a:srgbClr val="303E5F"/>
                </a:solidFill>
                <a:effectLst/>
                <a:latin typeface="Montserrat" panose="020B0604020202020204" pitchFamily="2" charset="0"/>
              </a:rPr>
              <a:t>CPUs, and memory resources involve setting both requests and limits. With Kubernetes GPU, however, you can only define them in the limits section, meaning you cannot request a GPU without setting a limit.  This ensures that each pod requesting a GPU has dedicated access to it.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03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1112</Words>
  <Application>Microsoft Office PowerPoint</Application>
  <PresentationFormat>On-screen Show (4:3)</PresentationFormat>
  <Paragraphs>112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Degular</vt:lpstr>
      <vt:lpstr>Google Sans</vt:lpstr>
      <vt:lpstr>Montserrat</vt:lpstr>
      <vt:lpstr>source-serif-pro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17</cp:revision>
  <dcterms:created xsi:type="dcterms:W3CDTF">2013-01-27T09:14:16Z</dcterms:created>
  <dcterms:modified xsi:type="dcterms:W3CDTF">2025-12-19T03:42:57Z</dcterms:modified>
  <cp:category/>
</cp:coreProperties>
</file>