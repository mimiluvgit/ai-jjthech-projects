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5"/>
  </p:notesMasterIdLst>
  <p:sldIdLst>
    <p:sldId id="256" r:id="rId2"/>
    <p:sldId id="258" r:id="rId3"/>
    <p:sldId id="269" r:id="rId4"/>
    <p:sldId id="270" r:id="rId5"/>
    <p:sldId id="259" r:id="rId6"/>
    <p:sldId id="272" r:id="rId7"/>
    <p:sldId id="273" r:id="rId8"/>
    <p:sldId id="278" r:id="rId9"/>
    <p:sldId id="261" r:id="rId10"/>
    <p:sldId id="262" r:id="rId11"/>
    <p:sldId id="274" r:id="rId12"/>
    <p:sldId id="275" r:id="rId13"/>
    <p:sldId id="27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9FF13-8D13-4DB3-9F36-7C17A1D4164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6A772-5204-4132-917F-555A553B5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concise 45-second definition and then expand on why structured context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Share a short example: 'Without MCP, each model-tool integration required custom adapters.'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sequence diagram or flow: discover -&gt; request -&gt; execute -&gt; return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1–2 use cases to demo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921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5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67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2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0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8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1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59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5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4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2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03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952" y="2130425"/>
            <a:ext cx="7491248" cy="1470025"/>
          </a:xfrm>
        </p:spPr>
        <p:txBody>
          <a:bodyPr>
            <a:normAutofit fontScale="90000"/>
          </a:bodyPr>
          <a:lstStyle/>
          <a:p>
            <a:r>
              <a:rPr dirty="0"/>
              <a:t>Model Context Protocol (MCP)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227" y="484632"/>
            <a:ext cx="8586951" cy="787120"/>
          </a:xfrm>
        </p:spPr>
        <p:txBody>
          <a:bodyPr>
            <a:normAutofit fontScale="90000"/>
          </a:bodyPr>
          <a:lstStyle/>
          <a:p>
            <a:r>
              <a:rPr dirty="0"/>
              <a:t>What is Model Context Protocol (MCP)?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BDE4F3-F620-4439-897B-AE4D8261B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228" y="1893447"/>
            <a:ext cx="868154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MCP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way for AI models (or custom agents)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connect safely with external tools, data, or APIs.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defines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models exchange 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like what data they can access, what tools they can use, and what limits apply.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it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“universal adapter”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helps AI systems talk to other software easily.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security, structure, and consistency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LLMs interact with outside systems.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to make AI integrations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modular, reusable, and open-standard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instead of custom code for each use case.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multiple models and tools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together in one environment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example, a chatbot fetching CRM data securely).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162A88-78DD-4683-AB1A-B70A3BEEF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883" y="1782823"/>
            <a:ext cx="4258261" cy="4236607"/>
          </a:xfrm>
          <a:effectLst>
            <a:glow rad="127000">
              <a:schemeClr val="accent1">
                <a:alpha val="71000"/>
              </a:schemeClr>
            </a:glow>
            <a:outerShdw dist="50800" dir="5400000" algn="ctr" rotWithShape="0">
              <a:srgbClr val="000000"/>
            </a:outerShdw>
            <a:softEdge rad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B284B1-166B-49F1-A940-AC230F557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265" y="1782823"/>
            <a:ext cx="4156038" cy="4236607"/>
          </a:xfrm>
          <a:prstGeom prst="rect">
            <a:avLst/>
          </a:prstGeom>
          <a:effectLst>
            <a:glow rad="127000">
              <a:schemeClr val="accent1">
                <a:alpha val="80000"/>
              </a:scheme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7BDF72-91FF-4215-8CCE-A8F3F411D241}"/>
              </a:ext>
            </a:extLst>
          </p:cNvPr>
          <p:cNvSpPr txBox="1"/>
          <p:nvPr/>
        </p:nvSpPr>
        <p:spPr>
          <a:xfrm>
            <a:off x="2554014" y="563831"/>
            <a:ext cx="5738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MCP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43794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BBFDF6-82BD-458B-8931-E79F68F16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508" y="315310"/>
            <a:ext cx="8503229" cy="5633545"/>
          </a:xfrm>
          <a:effectLst>
            <a:glow rad="127000">
              <a:schemeClr val="accent1">
                <a:alpha val="76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02876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MCP</a:t>
            </a:r>
            <a:r>
              <a:rPr lang="en-US" dirty="0"/>
              <a:t> IS </a:t>
            </a:r>
            <a:r>
              <a:rPr dirty="0"/>
              <a:t>Needed</a:t>
            </a:r>
            <a:r>
              <a:rPr lang="en-US" dirty="0"/>
              <a:t> ?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682268-8A4C-4CB3-A6B9-3C3FCF678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676" y="2261080"/>
            <a:ext cx="88391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models and tools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and controlled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access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integration effort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reusable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workflows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FD777-5282-4D62-BBBE-5F821C00B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247" y="3804744"/>
            <a:ext cx="4579415" cy="2416107"/>
          </a:xfrm>
          <a:prstGeom prst="rect">
            <a:avLst/>
          </a:prstGeom>
          <a:effectLst>
            <a:glow rad="127000">
              <a:schemeClr val="accent1">
                <a:alpha val="81000"/>
              </a:schemeClr>
            </a:glo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91D6-EA49-420C-9B7E-DBA03197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7260-4DF3-455D-91C1-617EDE04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External </a:t>
            </a:r>
            <a:r>
              <a:rPr lang="en-US" b="1" dirty="0"/>
              <a:t>actions or functions</a:t>
            </a:r>
            <a:r>
              <a:rPr lang="en-US" dirty="0"/>
              <a:t> a model can 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 search API, CRM lookup, file upload, database query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tool has </a:t>
            </a:r>
            <a:r>
              <a:rPr lang="en-US" b="1" dirty="0"/>
              <a:t>defined inputs, outputs, and permissions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the model to </a:t>
            </a:r>
            <a:r>
              <a:rPr lang="en-US" b="1" dirty="0"/>
              <a:t>perform real tasks safely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647F7-BBB1-4500-995C-D009A356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233" y="3808479"/>
            <a:ext cx="3941381" cy="2308541"/>
          </a:xfrm>
          <a:prstGeom prst="rect">
            <a:avLst/>
          </a:prstGeom>
          <a:effectLst>
            <a:glow rad="127000">
              <a:schemeClr val="accent1">
                <a:alpha val="79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9357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665C-8A72-45B2-ACA9-5682BBF1A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9" y="286604"/>
            <a:ext cx="7679909" cy="953617"/>
          </a:xfrm>
        </p:spPr>
        <p:txBody>
          <a:bodyPr/>
          <a:lstStyle/>
          <a:p>
            <a:r>
              <a:rPr lang="en-US" dirty="0"/>
              <a:t>MCP Resources &amp; Prompts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063B6A-6B93-42AA-9DD4-B6E4900693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621" y="1951672"/>
            <a:ext cx="82401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data or knowledge sources the model can access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documents, databases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APIs, or files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context and information for better model responses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Registered in the MCP server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metadata and access rules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Prompts - Pre-defined prompt templates or instructions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569D2-753C-4E5F-A1C8-83C5804F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894" y="3659005"/>
            <a:ext cx="3635231" cy="2622391"/>
          </a:xfrm>
          <a:prstGeom prst="rect">
            <a:avLst/>
          </a:prstGeom>
          <a:effectLst>
            <a:glow rad="127000">
              <a:schemeClr val="accent1">
                <a:alpha val="8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23055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0D5D-6E40-46E5-9683-8FA6C785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74941"/>
          </a:xfrm>
        </p:spPr>
        <p:txBody>
          <a:bodyPr>
            <a:normAutofit/>
          </a:bodyPr>
          <a:lstStyle/>
          <a:p>
            <a:r>
              <a:rPr lang="en-US" sz="4000" b="1" dirty="0"/>
              <a:t>MCP Transport Mechanism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22FC41-E7EF-4116-9712-362CEEE98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879" y="1772477"/>
            <a:ext cx="4651597" cy="33130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174743-7E61-4D64-A0B5-F6EAB5E1C104}"/>
              </a:ext>
            </a:extLst>
          </p:cNvPr>
          <p:cNvSpPr txBox="1"/>
          <p:nvPr/>
        </p:nvSpPr>
        <p:spPr>
          <a:xfrm>
            <a:off x="0" y="4950373"/>
            <a:ext cx="8797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SSE (Unidirectional):</a:t>
            </a:r>
            <a:r>
              <a:rPr lang="en-US" dirty="0"/>
              <a:t> Pushes real-time text/event-stream updates </a:t>
            </a:r>
            <a:r>
              <a:rPr lang="en-US" b="1" dirty="0"/>
              <a:t>one way</a:t>
            </a:r>
            <a:r>
              <a:rPr lang="en-US" dirty="0"/>
              <a:t> from server to client</a:t>
            </a:r>
          </a:p>
          <a:p>
            <a:r>
              <a:rPr lang="en-US" b="1" dirty="0" err="1"/>
              <a:t>Streamable</a:t>
            </a:r>
            <a:r>
              <a:rPr lang="en-US" b="1" dirty="0"/>
              <a:t> HTTP (Bidirectional capable):</a:t>
            </a:r>
            <a:r>
              <a:rPr lang="en-US" dirty="0"/>
              <a:t> Sends any data type in a continuous HTTP response, allowing </a:t>
            </a:r>
            <a:r>
              <a:rPr lang="en-US" b="1" dirty="0"/>
              <a:t>two-way</a:t>
            </a:r>
            <a:r>
              <a:rPr lang="en-US" dirty="0"/>
              <a:t> streaming if needed</a:t>
            </a:r>
          </a:p>
        </p:txBody>
      </p:sp>
    </p:spTree>
    <p:extLst>
      <p:ext uri="{BB962C8B-B14F-4D97-AF65-F5344CB8AC3E}">
        <p14:creationId xmlns:p14="http://schemas.microsoft.com/office/powerpoint/2010/main" val="414232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Common MCP Authorization Techniques</a:t>
            </a:r>
            <a:endParaRPr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74194F-9715-4395-8220-D8DB79A258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779" y="2314065"/>
            <a:ext cx="790378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Key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Simple key-based access for basic tools and demos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OAuth 2.0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Secure token-based access; ideal for enterprise &amp; user-level permissions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 (JSON Web Token)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Signed tokens to verify identity and enforce scopes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(RBAC)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Grants actions based on user or model roles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Scope-Based Permissions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Limits what data or tools a model can use (e.g., “read-only”)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6A35E1-106F-42C5-9085-C8B1AA00E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" y="633008"/>
            <a:ext cx="7620000" cy="4999102"/>
          </a:xfrm>
          <a:prstGeom prst="rect">
            <a:avLst/>
          </a:prstGeom>
          <a:effectLst>
            <a:glow rad="127000">
              <a:schemeClr val="accent1">
                <a:alpha val="83000"/>
              </a:schemeClr>
            </a:glo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6624-0F36-4516-9750-C135D94D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73"/>
            <a:ext cx="9406759" cy="1587062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Bahnschrift" panose="020B0502040204020203" pitchFamily="34" charset="0"/>
              </a:rPr>
              <a:t>FastMCP</a:t>
            </a:r>
            <a:r>
              <a:rPr lang="en-US" sz="2400" b="1" dirty="0">
                <a:latin typeface="Bahnschrift" panose="020B0502040204020203" pitchFamily="34" charset="0"/>
              </a:rPr>
              <a:t> — </a:t>
            </a:r>
            <a:r>
              <a:rPr lang="en-US" sz="2400" dirty="0">
                <a:latin typeface="Bahnschrift" panose="020B0502040204020203" pitchFamily="34" charset="0"/>
              </a:rPr>
              <a:t>The Standard Framework for Building MCP Applications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04AA53-3E96-4CE5-B09B-1CEE78E4D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92" y="2045271"/>
            <a:ext cx="876562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all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 complexities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you focus on building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decorate a Python 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FastMCP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the rest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High-level interface → less code, faster development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Minimal boilerplate for quick MCP server setup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Feels natural for Python developers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for production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(Google, GitHub, Azure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tools, testing frameworks, and client libraries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552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4532-BDBD-403F-B45E-BEA3B584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890" y="286605"/>
            <a:ext cx="7462870" cy="70230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Berlin Sans FB Demi" panose="020E0802020502020306" pitchFamily="34" charset="0"/>
              </a:rPr>
              <a:t>How </a:t>
            </a:r>
            <a:r>
              <a:rPr lang="en-US" sz="2800" dirty="0" err="1">
                <a:latin typeface="Berlin Sans FB Demi" panose="020E0802020502020306" pitchFamily="34" charset="0"/>
              </a:rPr>
              <a:t>FastAPI</a:t>
            </a:r>
            <a:r>
              <a:rPr lang="en-US" sz="2800" dirty="0">
                <a:latin typeface="Berlin Sans FB Demi" panose="020E0802020502020306" pitchFamily="34" charset="0"/>
              </a:rPr>
              <a:t> &amp; </a:t>
            </a:r>
            <a:r>
              <a:rPr lang="en-US" sz="2800" dirty="0" err="1">
                <a:latin typeface="Berlin Sans FB Demi" panose="020E0802020502020306" pitchFamily="34" charset="0"/>
              </a:rPr>
              <a:t>FastMCP</a:t>
            </a:r>
            <a:r>
              <a:rPr lang="en-US" sz="2800" dirty="0">
                <a:latin typeface="Berlin Sans FB Demi" panose="020E0802020502020306" pitchFamily="34" charset="0"/>
              </a:rPr>
              <a:t> Work Together</a:t>
            </a:r>
            <a:endParaRPr lang="en-US" sz="2800" b="1" dirty="0"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7FE7-D84E-4D3C-947D-4994AFE9B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FastAPI</a:t>
            </a:r>
            <a:r>
              <a:rPr lang="en-US" dirty="0"/>
              <a:t> is a modern, high-performance </a:t>
            </a:r>
            <a:r>
              <a:rPr lang="en-US" b="1" dirty="0"/>
              <a:t>Python web framework</a:t>
            </a:r>
            <a:r>
              <a:rPr lang="en-US" dirty="0"/>
              <a:t> for building APIs.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FastAPI</a:t>
            </a:r>
            <a:r>
              <a:rPr lang="en-US" dirty="0"/>
              <a:t> handles the </a:t>
            </a:r>
            <a:r>
              <a:rPr lang="en-US" b="1" dirty="0"/>
              <a:t>HTTP requests, routing, and performance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while </a:t>
            </a:r>
            <a:r>
              <a:rPr lang="en-US" dirty="0" err="1"/>
              <a:t>FastMCP</a:t>
            </a:r>
            <a:r>
              <a:rPr lang="en-US" dirty="0"/>
              <a:t> handles </a:t>
            </a:r>
            <a:r>
              <a:rPr lang="en-US" b="1" dirty="0"/>
              <a:t>MCP protocol logic</a:t>
            </a:r>
            <a:r>
              <a:rPr lang="en-US" dirty="0"/>
              <a:t> (tools, resources, prompts)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Developers can define MCP endpoints easily using </a:t>
            </a:r>
            <a:r>
              <a:rPr lang="en-US" b="1" dirty="0" err="1"/>
              <a:t>FastMCP</a:t>
            </a:r>
            <a:r>
              <a:rPr lang="en-US" b="1" dirty="0"/>
              <a:t> decorators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FastAPI</a:t>
            </a:r>
            <a:r>
              <a:rPr lang="en-US" dirty="0"/>
              <a:t> manages the server, and </a:t>
            </a:r>
            <a:r>
              <a:rPr lang="en-US" dirty="0" err="1"/>
              <a:t>FastMCP</a:t>
            </a:r>
            <a:r>
              <a:rPr lang="en-US" dirty="0"/>
              <a:t> adds the MCP intelligence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E1F97-C231-48EB-931C-5F4506DC3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953" y="3997897"/>
            <a:ext cx="3396351" cy="187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81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092F-3CCD-4AC1-9C8C-2EE99677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C0182D-ABE4-406C-A3D2-1BF52745E4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9393" y="1882843"/>
            <a:ext cx="819806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Model Context Protocol (MCP)?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MCP Tools, Resources, and Prompts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important in MCP and what methods are commonly used?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FastMCP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simplify MCP server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Python developers?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role does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 when building MCP applications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FastMCP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Explain all 3 Transport Mechanism in MCPs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345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</TotalTime>
  <Words>648</Words>
  <Application>Microsoft Office PowerPoint</Application>
  <PresentationFormat>On-screen Show (4:3)</PresentationFormat>
  <Paragraphs>58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Bahnschrift</vt:lpstr>
      <vt:lpstr>Berlin Sans FB Demi</vt:lpstr>
      <vt:lpstr>Calibri</vt:lpstr>
      <vt:lpstr>Calibri Light</vt:lpstr>
      <vt:lpstr>Wingdings</vt:lpstr>
      <vt:lpstr>Retrospect</vt:lpstr>
      <vt:lpstr>Model Context Protocol (MCP)</vt:lpstr>
      <vt:lpstr>What is Model Context Protocol (MCP)?</vt:lpstr>
      <vt:lpstr>PowerPoint Presentation</vt:lpstr>
      <vt:lpstr>PowerPoint Presentation</vt:lpstr>
      <vt:lpstr>Why MCP IS Needed ?</vt:lpstr>
      <vt:lpstr>MCP Tools</vt:lpstr>
      <vt:lpstr>MCP Resources &amp; Prompts</vt:lpstr>
      <vt:lpstr>MCP Transport Mechanism</vt:lpstr>
      <vt:lpstr>Common MCP Authorization Techniques</vt:lpstr>
      <vt:lpstr>PowerPoint Presentation</vt:lpstr>
      <vt:lpstr>FastMCP — The Standard Framework for Building MCP Applications</vt:lpstr>
      <vt:lpstr>How FastAPI &amp; FastMCP Work Together</vt:lpstr>
      <vt:lpstr>Q/A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</dc:title>
  <dc:subject/>
  <dc:creator/>
  <cp:keywords/>
  <dc:description>generated using python-pptx</dc:description>
  <cp:lastModifiedBy>Admin</cp:lastModifiedBy>
  <cp:revision>10</cp:revision>
  <dcterms:created xsi:type="dcterms:W3CDTF">2013-01-27T09:14:16Z</dcterms:created>
  <dcterms:modified xsi:type="dcterms:W3CDTF">2026-01-09T09:46:04Z</dcterms:modified>
  <cp:category/>
</cp:coreProperties>
</file>